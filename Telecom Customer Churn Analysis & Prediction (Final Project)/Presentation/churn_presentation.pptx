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sz="5400" dirty="0">
                <a:solidFill>
                  <a:schemeClr val="accent6"/>
                </a:solidFill>
              </a:rPr>
              <a:t>Telecom Customer Churn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Reducing Attrition through Machine Learning &amp; Statistical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6"/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b="1" dirty="0"/>
              <a:t>Goal</a:t>
            </a:r>
            <a:r>
              <a:rPr lang="en-US" dirty="0"/>
              <a:t>: Predict which customers are likely to leave (churn) to allow for proactive retention strategies.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b="1" dirty="0"/>
              <a:t>Key Results</a:t>
            </a:r>
            <a:r>
              <a:rPr lang="en-US" dirty="0"/>
              <a:t>:  Churn Rate: 26.5% of the customer base is at risk.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b="1" dirty="0"/>
              <a:t>Model Performance</a:t>
            </a:r>
            <a:r>
              <a:rPr lang="en-US" dirty="0"/>
              <a:t>: Logistic Regression achieved 80% accuracy.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b="1" dirty="0"/>
              <a:t>Primary Drivers</a:t>
            </a:r>
            <a:r>
              <a:rPr lang="en-US" dirty="0"/>
              <a:t>: Contract terms and service type are the strongest predictors of churn.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Data &amp; Methodology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b="1" dirty="0"/>
              <a:t>The Dataset</a:t>
            </a:r>
            <a:r>
              <a:rPr lang="en-US" dirty="0"/>
              <a:t>: 7,043 customer records with 21 features (Demographics, Services, and Billing).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b="1" dirty="0"/>
              <a:t>The Approach</a:t>
            </a:r>
            <a:r>
              <a:rPr lang="en-US" dirty="0"/>
              <a:t>: </a:t>
            </a:r>
          </a:p>
          <a:p>
            <a:pPr lvl="1">
              <a:buFont typeface="Courier New" panose="02070309020205020404" pitchFamily="49" charset="0"/>
              <a:buChar char="o"/>
              <a:defRPr sz="2000">
                <a:solidFill>
                  <a:srgbClr val="FFFFFF"/>
                </a:solidFill>
              </a:defRPr>
            </a:pPr>
            <a:r>
              <a:rPr lang="en-US" dirty="0"/>
              <a:t>Cleaned and preprocessed data (handled missing values, encoded categories).</a:t>
            </a:r>
          </a:p>
          <a:p>
            <a:pPr lvl="1">
              <a:buFont typeface="Courier New" panose="02070309020205020404" pitchFamily="49" charset="0"/>
              <a:buChar char="o"/>
              <a:defRPr sz="2000">
                <a:solidFill>
                  <a:srgbClr val="FFFFFF"/>
                </a:solidFill>
              </a:defRPr>
            </a:pPr>
            <a:r>
              <a:rPr lang="en-US" dirty="0"/>
              <a:t>Used Mutual Information (MI) and Entropy analysis to identify the most influential features.</a:t>
            </a:r>
          </a:p>
          <a:p>
            <a:pPr lvl="1">
              <a:buFont typeface="Courier New" panose="02070309020205020404" pitchFamily="49" charset="0"/>
              <a:buChar char="o"/>
              <a:defRPr sz="2000">
                <a:solidFill>
                  <a:srgbClr val="FFFFFF"/>
                </a:solidFill>
              </a:defRPr>
            </a:pPr>
            <a:r>
              <a:rPr lang="en-US" dirty="0"/>
              <a:t>Built a Logistic Regression model to classify "Churn" vs. "No Churn."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6"/>
                </a:solidFill>
              </a:rPr>
              <a:t>Key Statistical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sz="2800" b="1" dirty="0"/>
              <a:t>Feature Importance (MI Scores):</a:t>
            </a:r>
          </a:p>
          <a:p>
            <a:pPr lvl="1">
              <a:buFont typeface="Courier New" panose="02070309020205020404" pitchFamily="49" charset="0"/>
              <a:buChar char="o"/>
              <a:defRPr sz="2000">
                <a:solidFill>
                  <a:srgbClr val="FFFFFF"/>
                </a:solidFill>
              </a:defRPr>
            </a:pPr>
            <a:r>
              <a:rPr lang="en-US" dirty="0"/>
              <a:t>Contract Type: The #1 predictor. Customers on month-to-month plans are significantly more likely to leave.</a:t>
            </a:r>
          </a:p>
          <a:p>
            <a:pPr lvl="1">
              <a:buFont typeface="Courier New" panose="02070309020205020404" pitchFamily="49" charset="0"/>
              <a:buChar char="o"/>
              <a:defRPr sz="2000">
                <a:solidFill>
                  <a:srgbClr val="FFFFFF"/>
                </a:solidFill>
              </a:defRPr>
            </a:pPr>
            <a:r>
              <a:rPr lang="en-US" dirty="0"/>
              <a:t>Online Security &amp; Tech Support: Customers without these services show much higher churn rates.</a:t>
            </a:r>
          </a:p>
          <a:p>
            <a:pPr lvl="1">
              <a:buFont typeface="Courier New" panose="02070309020205020404" pitchFamily="49" charset="0"/>
              <a:buChar char="o"/>
              <a:defRPr sz="2000">
                <a:solidFill>
                  <a:srgbClr val="FFFFFF"/>
                </a:solidFill>
              </a:defRPr>
            </a:pPr>
            <a:r>
              <a:rPr lang="en-US" dirty="0"/>
              <a:t>Internet Service: Fiber optic users churn at a surprisingly higher rate than DSL users (suggesting possible service or price dissatisfaction).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0283"/>
            <a:ext cx="8229600" cy="1143000"/>
          </a:xfrm>
        </p:spPr>
        <p:txBody>
          <a:bodyPr/>
          <a:lstStyle/>
          <a:p>
            <a:r>
              <a:rPr dirty="0">
                <a:solidFill>
                  <a:schemeClr val="accent6"/>
                </a:solidFill>
              </a:rPr>
              <a:t>Dashboard Insights</a:t>
            </a:r>
          </a:p>
        </p:txBody>
      </p:sp>
      <p:pic>
        <p:nvPicPr>
          <p:cNvPr id="3" name="Picture 2" descr="33199480-a717-482f-9a2a-624fb6cf36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38" y="1224115"/>
            <a:ext cx="8126361" cy="50929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0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0D8D06-AF8A-2E5A-34D3-DC1CA6423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AE5AC-E747-B25E-6636-DBECE8202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0283"/>
            <a:ext cx="8229600" cy="1143000"/>
          </a:xfrm>
        </p:spPr>
        <p:txBody>
          <a:bodyPr/>
          <a:lstStyle/>
          <a:p>
            <a:r>
              <a:rPr dirty="0">
                <a:solidFill>
                  <a:schemeClr val="accent6"/>
                </a:solidFill>
              </a:rPr>
              <a:t>Dashboard Insights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F619FDE-0462-031C-60AA-B5D1A67DC6AB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>
                <a:solidFill>
                  <a:srgbClr val="FFFFFF"/>
                </a:solidFill>
              </a:defRPr>
            </a:pPr>
            <a:r>
              <a:rPr lang="en-US" sz="2000" b="1" dirty="0">
                <a:solidFill>
                  <a:srgbClr val="FFFFFF"/>
                </a:solidFill>
              </a:rPr>
              <a:t>Segment High-Risk: </a:t>
            </a:r>
            <a:r>
              <a:rPr lang="en-US" sz="2000" dirty="0">
                <a:solidFill>
                  <a:srgbClr val="FFFFFF"/>
                </a:solidFill>
              </a:rPr>
              <a:t>Highlight the 42.7% churn rate in Month-to-month contracts.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sz="2000" b="1" dirty="0">
                <a:solidFill>
                  <a:srgbClr val="FFFFFF"/>
                </a:solidFill>
              </a:rPr>
              <a:t>Technical Gaps: </a:t>
            </a:r>
            <a:r>
              <a:rPr lang="en-US" sz="2000" dirty="0">
                <a:solidFill>
                  <a:srgbClr val="FFFFFF"/>
                </a:solidFill>
              </a:rPr>
              <a:t>Point out that customers with no Online Security have a 41.7% churn rate compared to only 14.6% for those who have it.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sz="2000" b="1" dirty="0">
                <a:solidFill>
                  <a:srgbClr val="FFFFFF"/>
                </a:solidFill>
              </a:rPr>
              <a:t>Demographic Slicers: </a:t>
            </a:r>
            <a:r>
              <a:rPr lang="en-US" sz="2000" dirty="0">
                <a:solidFill>
                  <a:srgbClr val="FFFFFF"/>
                </a:solidFill>
              </a:rPr>
              <a:t>Note that while Gender/Senior status are filterable, they have low statistical impact compared to service-related features.</a:t>
            </a:r>
          </a:p>
        </p:txBody>
      </p:sp>
    </p:spTree>
    <p:extLst>
      <p:ext uri="{BB962C8B-B14F-4D97-AF65-F5344CB8AC3E}">
        <p14:creationId xmlns:p14="http://schemas.microsoft.com/office/powerpoint/2010/main" val="1417013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6"/>
                </a:solidFill>
              </a:rPr>
              <a:t>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b="1" dirty="0"/>
              <a:t>Accuracy</a:t>
            </a:r>
            <a:r>
              <a:rPr lang="en-US" dirty="0"/>
              <a:t>: 80% (Tested on unseen data).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b="1" dirty="0"/>
              <a:t>Top Insights from the Model</a:t>
            </a:r>
            <a:r>
              <a:rPr lang="en-US" dirty="0"/>
              <a:t>:</a:t>
            </a:r>
          </a:p>
          <a:p>
            <a:pPr lvl="1">
              <a:buFont typeface="Courier New" panose="02070309020205020404" pitchFamily="49" charset="0"/>
              <a:buChar char="o"/>
              <a:defRPr sz="2000">
                <a:solidFill>
                  <a:srgbClr val="FFFFFF"/>
                </a:solidFill>
              </a:defRPr>
            </a:pPr>
            <a:r>
              <a:rPr lang="en-US" dirty="0"/>
              <a:t>Short tenure + Month-to-month contracts = Highest Risk Profile.</a:t>
            </a:r>
          </a:p>
          <a:p>
            <a:pPr lvl="1">
              <a:buFont typeface="Courier New" panose="02070309020205020404" pitchFamily="49" charset="0"/>
              <a:buChar char="o"/>
              <a:defRPr sz="2000">
                <a:solidFill>
                  <a:srgbClr val="FFFFFF"/>
                </a:solidFill>
              </a:defRPr>
            </a:pPr>
            <a:r>
              <a:rPr lang="en-US" dirty="0"/>
              <a:t>Fiber optic service is a "churn magnet" in the current pricing/service structure.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b="1" dirty="0"/>
              <a:t>Model Utility</a:t>
            </a:r>
            <a:r>
              <a:rPr lang="en-US" dirty="0"/>
              <a:t>: This model allows the marketing team to target the 1,869 "at-risk" customers identified in the dashboard.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6"/>
                </a:solidFill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b="1" dirty="0"/>
              <a:t>Convert Contracts</a:t>
            </a:r>
            <a:r>
              <a:rPr lang="en-US" dirty="0"/>
              <a:t>: Incentivize month-to-month users to move to 1 or 2-year contracts.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b="1" dirty="0"/>
              <a:t>Bundle Security</a:t>
            </a:r>
            <a:r>
              <a:rPr lang="en-US" dirty="0"/>
              <a:t>: Offer "Online Security" or "Tech Support" as a free trial or low-cost add-on to increase customer "stickiness</a:t>
            </a:r>
            <a:r>
              <a:rPr lang="ar-EG" dirty="0"/>
              <a:t>"</a:t>
            </a:r>
            <a:r>
              <a:rPr lang="en-US" dirty="0"/>
              <a:t>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b="1" dirty="0"/>
              <a:t>Fiber Optic Audit</a:t>
            </a:r>
            <a:r>
              <a:rPr lang="en-US" dirty="0"/>
              <a:t>: Investigate why Fiber Optic churn is so high (is it price? downtime?) and address the service gap.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b="1" dirty="0"/>
              <a:t>Proactive Outreach</a:t>
            </a:r>
            <a:r>
              <a:rPr lang="en-US" dirty="0"/>
              <a:t>: Use the model’s prediction list to offer discounts to high-probability churners before they cancel.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429</Words>
  <Application>Microsoft Office PowerPoint</Application>
  <PresentationFormat>On-screen Show (4:3)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Telecom Customer Churn Prediction</vt:lpstr>
      <vt:lpstr>Executive Summary</vt:lpstr>
      <vt:lpstr>Data &amp; Methodology</vt:lpstr>
      <vt:lpstr>Key Statistical Insights</vt:lpstr>
      <vt:lpstr>Dashboard Insights</vt:lpstr>
      <vt:lpstr>Dashboard Insights</vt:lpstr>
      <vt:lpstr>Model Results</vt:lpstr>
      <vt:lpstr>Strategic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ياسين محمد ابراهيم سالم ريان</cp:lastModifiedBy>
  <cp:revision>3</cp:revision>
  <dcterms:created xsi:type="dcterms:W3CDTF">2013-01-27T09:14:16Z</dcterms:created>
  <dcterms:modified xsi:type="dcterms:W3CDTF">2026-04-11T04:28:24Z</dcterms:modified>
  <cp:category/>
</cp:coreProperties>
</file>